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agro-shield.onrender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agro-shield.onrender.com" TargetMode="External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0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ounded Rectangle 10"/>
          <p:cNvSpPr/>
          <p:nvPr/>
        </p:nvSpPr>
        <p:spPr>
          <a:xfrm>
            <a:off x="393192" y="365760"/>
            <a:ext cx="2697480" cy="1847088"/>
          </a:xfrm>
          <a:prstGeom prst="roundRect">
            <a:avLst/>
          </a:prstGeom>
          <a:solidFill>
            <a:srgbClr val="125635"/>
          </a:solidFill>
          <a:ln w="17780">
            <a:solidFill>
              <a:srgbClr val="69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17660" y="269240"/>
            <a:ext cx="2458720" cy="155285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377e2eff-7647-4733-a872-5ddbd2549d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320040"/>
            <a:ext cx="2331720" cy="14512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63240" y="932688"/>
            <a:ext cx="5760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/>
            </a:r>
            <a:r>
              <a:rPr sz="3400" b="1">
                <a:solidFill>
                  <a:srgbClr val="B4FF2D"/>
                </a:solidFill>
                <a:latin typeface="Aptos"/>
              </a:rPr>
              <a:t>AGRO</a:t>
            </a:r>
            <a:r>
              <a:rPr sz="3400" b="1">
                <a:solidFill>
                  <a:srgbClr val="FFFFFF"/>
                </a:solidFill>
                <a:latin typeface="Aptos"/>
              </a:rPr>
              <a:t>-SHIELD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572768"/>
            <a:ext cx="6035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D0E9D4"/>
                </a:solidFill>
                <a:latin typeface="Aptos"/>
              </a:rPr>
              <a:t>Protect Every Harvest. Empower Every Farmer.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423160"/>
            <a:ext cx="10058400" cy="1325880"/>
          </a:xfrm>
          <a:prstGeom prst="roundRect">
            <a:avLst/>
          </a:prstGeom>
          <a:solidFill>
            <a:srgbClr val="19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2697480"/>
            <a:ext cx="9326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A smart agricultural ecosystem connecting farmers,
buyers, agricultural organizations and consumers.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4800600"/>
            <a:ext cx="3977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D6EDD5"/>
                </a:solidFill>
                <a:latin typeface="Aptos"/>
              </a:rPr>
              <a:t>TEAM </a:t>
            </a:r>
            <a:r>
              <a:rPr sz="1500" b="1">
                <a:solidFill>
                  <a:srgbClr val="FFFFFF"/>
                </a:solidFill>
                <a:latin typeface="Aptos"/>
              </a:rPr>
              <a:t>AGRO</a:t>
            </a:r>
            <a:r>
              <a:rPr sz="1500" b="1">
                <a:latin typeface="Aptos"/>
              </a:rPr>
              <a:t>-SHIELD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5440680"/>
            <a:ext cx="6172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IDOMA CENTENARY PLUS+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592531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C2D8C9"/>
                </a:solidFill>
                <a:latin typeface="Aptos"/>
              </a:rPr>
              <a:t>Build • Validate • Demonstrate • Impact</a:t>
            </a:r>
          </a:p>
        </p:txBody>
      </p:sp>
      <p:pic>
        <p:nvPicPr>
          <p:cNvPr id="12" name="Picture 11" descr="AgroShield_logo_FINAL_b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38912"/>
            <a:ext cx="2487168" cy="16550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26035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8595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5F"/>
                </a:solidFill>
                <a:latin typeface="Aptos"/>
              </a:rPr>
              <a:t>Agricultural value is lost when people, products and markets cannot connect.</a:t>
            </a:r>
          </a:p>
        </p:txBody>
      </p:sp>
      <p:pic>
        <p:nvPicPr>
          <p:cNvPr id="5" name="Picture 4" descr="Agro-Shiel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201168"/>
            <a:ext cx="987552" cy="658368"/>
          </a:xfrm>
          <a:prstGeom prst="rect">
            <a:avLst/>
          </a:prstGeom>
        </p:spPr>
      </p:pic>
      <p:pic>
        <p:nvPicPr>
          <p:cNvPr id="6" name="Picture 5" descr="377e2eff-7647-4733-a872-5ddbd2549d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82880"/>
            <a:ext cx="1691640" cy="1052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67160" y="6565392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074920" cy="1691640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DA6923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00200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A4C30"/>
                </a:solidFill>
                <a:latin typeface="Aptos"/>
              </a:rPr>
              <a:t>Post-harvest losses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39112"/>
            <a:ext cx="3840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45F"/>
                </a:solidFill>
                <a:latin typeface="Aptos"/>
              </a:rPr>
              <a:t>Poor storage, limited market access and delayed sales leave farmers with unsold or spoiled produce.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074920" cy="1691640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18488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DA6923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600200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A4C30"/>
                </a:solidFill>
                <a:latin typeface="Aptos"/>
              </a:rPr>
              <a:t>Unfair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039112"/>
            <a:ext cx="3840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45F"/>
                </a:solidFill>
                <a:latin typeface="Aptos"/>
              </a:rPr>
              <a:t>Farmers struggle to find legitimate buyers and are often pressured to sell cheaply.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74720"/>
            <a:ext cx="5074920" cy="1691640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75887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DA6923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657600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A4C30"/>
                </a:solidFill>
                <a:latin typeface="Aptos"/>
              </a:rPr>
              <a:t>Weak buyer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096511"/>
            <a:ext cx="3840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45F"/>
                </a:solidFill>
                <a:latin typeface="Aptos"/>
              </a:rPr>
              <a:t>Businesses and poultry farms depend on radio announcements and local networks to find suppliers/customers.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474720"/>
            <a:ext cx="5074920" cy="1691640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675887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DA6923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657600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A4C30"/>
                </a:solidFill>
                <a:latin typeface="Aptos"/>
              </a:rPr>
              <a:t>Limited outreach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096511"/>
            <a:ext cx="38404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45F"/>
                </a:solidFill>
                <a:latin typeface="Aptos"/>
              </a:rPr>
              <a:t>Agricultural agencies struggle to reach genuine farmers with quality inputs, training and opportunities.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A4C30"/>
                </a:solidFill>
                <a:latin typeface="Aptos"/>
              </a:rPr>
              <a:t>THE GAP: good agricultural products exist, but the right people cannot reliably find one another.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26035"/>
                </a:solidFill>
                <a:latin typeface="Aptos"/>
              </a:rPr>
              <a:t>WHAT WE DISCOVERED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8595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5F"/>
                </a:solidFill>
                <a:latin typeface="Aptos"/>
              </a:rPr>
              <a:t>Field research with businesses, farmers, government and potential consumers.</a:t>
            </a:r>
          </a:p>
        </p:txBody>
      </p:sp>
      <p:pic>
        <p:nvPicPr>
          <p:cNvPr id="5" name="Picture 4" descr="Agro-Shiel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201168"/>
            <a:ext cx="987552" cy="658368"/>
          </a:xfrm>
          <a:prstGeom prst="rect">
            <a:avLst/>
          </a:prstGeom>
        </p:spPr>
      </p:pic>
      <p:pic>
        <p:nvPicPr>
          <p:cNvPr id="6" name="Picture 5" descr="377e2eff-7647-4733-a872-5ddbd2549d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82880"/>
            <a:ext cx="1691640" cy="1052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67160" y="6565392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98448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A4C30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298448"/>
            <a:ext cx="3337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A4C30"/>
                </a:solidFill>
                <a:latin typeface="Aptos"/>
              </a:rPr>
              <a:t>Green Harvest Food Stuff Industry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298448"/>
            <a:ext cx="6903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5F"/>
                </a:solidFill>
                <a:latin typeface="Aptos"/>
              </a:rPr>
              <a:t>They rely on radio announcements to find farmers and suppliers; they also highlighted water challenges.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231136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A4C30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231136"/>
            <a:ext cx="3337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A4C30"/>
                </a:solidFill>
                <a:latin typeface="Aptos"/>
              </a:rPr>
              <a:t>Ewake Poultry Farm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31136"/>
            <a:ext cx="6903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5F"/>
                </a:solidFill>
                <a:latin typeface="Aptos"/>
              </a:rPr>
              <a:t>Local customers buy, but payments can be incomplete. Customers outside the area struggle to locate the farm.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163824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A4C30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163824"/>
            <a:ext cx="3337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A4C30"/>
                </a:solidFill>
                <a:latin typeface="Aptos"/>
              </a:rPr>
              <a:t>Benue State Ministry of Agriculture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163824"/>
            <a:ext cx="6903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5F"/>
                </a:solidFill>
                <a:latin typeface="Aptos"/>
              </a:rPr>
              <a:t>Quality seeds, fertilizer and other products are available, but reaching genuine farmers is difficult.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096512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A4C30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096512"/>
            <a:ext cx="3337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A4C30"/>
                </a:solidFill>
                <a:latin typeface="Aptos"/>
              </a:rPr>
              <a:t>3 Farmers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096512"/>
            <a:ext cx="6903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5F"/>
                </a:solidFill>
                <a:latin typeface="Aptos"/>
              </a:rPr>
              <a:t>Reported post-harvest losses, low market prices and difficulty finding legitimate buyers; want buyers to see produce before harvest.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029200"/>
            <a:ext cx="3840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A4C30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029200"/>
            <a:ext cx="3337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0A4C30"/>
                </a:solidFill>
                <a:latin typeface="Aptos"/>
              </a:rPr>
              <a:t>Potential consumers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029200"/>
            <a:ext cx="6903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5F"/>
                </a:solidFill>
                <a:latin typeface="Aptos"/>
              </a:rPr>
              <a:t>Want a convenient platform to discover and order food products without searching physically through markets.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961888"/>
            <a:ext cx="10378440" cy="411480"/>
          </a:xfrm>
          <a:prstGeom prst="roundRect">
            <a:avLst/>
          </a:prstGeom>
          <a:solidFill>
            <a:srgbClr val="F6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016752"/>
            <a:ext cx="10104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0A4C30"/>
                </a:solidFill>
                <a:latin typeface="Aptos"/>
              </a:rPr>
              <a:t>Research insight: users want visibility, trusted connections, fairer pricing and convenient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26035"/>
                </a:solidFill>
                <a:latin typeface="Aptos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8595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5F"/>
                </a:solidFill>
                <a:latin typeface="Aptos"/>
              </a:rPr>
              <a:t>One digital ecosystem connecting the agricultural value chain.</a:t>
            </a:r>
          </a:p>
        </p:txBody>
      </p:sp>
      <p:pic>
        <p:nvPicPr>
          <p:cNvPr id="5" name="Picture 4" descr="Agro-Shiel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201168"/>
            <a:ext cx="987552" cy="658368"/>
          </a:xfrm>
          <a:prstGeom prst="rect">
            <a:avLst/>
          </a:prstGeom>
        </p:spPr>
      </p:pic>
      <p:pic>
        <p:nvPicPr>
          <p:cNvPr id="6" name="Picture 5" descr="377e2eff-7647-4733-a872-5ddbd2549d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82880"/>
            <a:ext cx="1691640" cy="1052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67160" y="6565392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2286000"/>
            <a:ext cx="2926080" cy="1143000"/>
          </a:xfrm>
          <a:prstGeom prst="roundRect">
            <a:avLst/>
          </a:prstGeom>
          <a:solidFill>
            <a:srgbClr val="0A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596896"/>
            <a:ext cx="25603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AGRO-SHIELD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08760"/>
            <a:ext cx="2148840" cy="914400"/>
          </a:xfrm>
          <a:prstGeom prst="roundRect">
            <a:avLst/>
          </a:prstGeom>
          <a:solidFill>
            <a:srgbClr val="EFF7E7"/>
          </a:solidFill>
          <a:ln w="15240">
            <a:solidFill>
              <a:srgbClr val="6FA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92224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A4C30"/>
                </a:solidFill>
                <a:latin typeface="Aptos"/>
              </a:rPr>
              <a:t>FARMERS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60520"/>
            <a:ext cx="2148840" cy="914400"/>
          </a:xfrm>
          <a:prstGeom prst="roundRect">
            <a:avLst/>
          </a:prstGeom>
          <a:solidFill>
            <a:srgbClr val="EFF7E7"/>
          </a:solidFill>
          <a:ln w="15240">
            <a:solidFill>
              <a:srgbClr val="6FA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43983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A4C30"/>
                </a:solidFill>
                <a:latin typeface="Aptos"/>
              </a:rPr>
              <a:t>BUYERS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508760"/>
            <a:ext cx="2148840" cy="914400"/>
          </a:xfrm>
          <a:prstGeom prst="roundRect">
            <a:avLst/>
          </a:prstGeom>
          <a:solidFill>
            <a:srgbClr val="EFF7E7"/>
          </a:solidFill>
          <a:ln w="15240">
            <a:solidFill>
              <a:srgbClr val="6FA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792224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A4C30"/>
                </a:solidFill>
                <a:latin typeface="Aptos"/>
              </a:rPr>
              <a:t>AGENCIES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4160520"/>
            <a:ext cx="2148840" cy="914400"/>
          </a:xfrm>
          <a:prstGeom prst="roundRect">
            <a:avLst/>
          </a:prstGeom>
          <a:solidFill>
            <a:srgbClr val="EFF7E7"/>
          </a:solidFill>
          <a:ln w="15240">
            <a:solidFill>
              <a:srgbClr val="6FA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4443983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A4C30"/>
                </a:solidFill>
                <a:latin typeface="Aptos"/>
              </a:rPr>
              <a:t>CONSUMERS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71800" y="1965960"/>
            <a:ext cx="1645920" cy="685800"/>
          </a:xfrm>
          <a:prstGeom prst="line">
            <a:avLst/>
          </a:prstGeom>
          <a:ln w="25400">
            <a:solidFill>
              <a:srgbClr val="6FA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971800" y="3063240"/>
            <a:ext cx="1645920" cy="1508760"/>
          </a:xfrm>
          <a:prstGeom prst="line">
            <a:avLst/>
          </a:prstGeom>
          <a:ln w="25400">
            <a:solidFill>
              <a:srgbClr val="6FA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543800" y="1965960"/>
            <a:ext cx="1645920" cy="685800"/>
          </a:xfrm>
          <a:prstGeom prst="line">
            <a:avLst/>
          </a:prstGeom>
          <a:ln w="25400">
            <a:solidFill>
              <a:srgbClr val="6FA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543800" y="3063240"/>
            <a:ext cx="1645920" cy="1508760"/>
          </a:xfrm>
          <a:prstGeom prst="line">
            <a:avLst/>
          </a:prstGeom>
          <a:ln w="25400">
            <a:solidFill>
              <a:srgbClr val="6FA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880360" y="38862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5A645F"/>
                </a:solidFill>
                <a:latin typeface="Aptos"/>
              </a:defRPr>
            </a:pPr>
            <a:r>
              <a:t>• Farmer registration and authentication</a:t>
            </a:r>
          </a:p>
          <a:p>
            <a:pPr>
              <a:spcAft>
                <a:spcPts val="600"/>
              </a:spcAft>
              <a:defRPr sz="1300">
                <a:solidFill>
                  <a:srgbClr val="5A645F"/>
                </a:solidFill>
                <a:latin typeface="Aptos"/>
              </a:defRPr>
            </a:pPr>
            <a:r>
              <a:t>• Marketplace for agricultural products</a:t>
            </a:r>
          </a:p>
          <a:p>
            <a:pPr>
              <a:spcAft>
                <a:spcPts val="600"/>
              </a:spcAft>
              <a:defRPr sz="1300">
                <a:solidFill>
                  <a:srgbClr val="5A645F"/>
                </a:solidFill>
                <a:latin typeface="Aptos"/>
              </a:defRPr>
            </a:pPr>
            <a:r>
              <a:t>• Buyer and seller discovery</a:t>
            </a:r>
          </a:p>
          <a:p>
            <a:pPr>
              <a:spcAft>
                <a:spcPts val="600"/>
              </a:spcAft>
              <a:defRPr sz="1300">
                <a:solidFill>
                  <a:srgbClr val="5A645F"/>
                </a:solidFill>
                <a:latin typeface="Aptos"/>
              </a:defRPr>
            </a:pPr>
            <a:r>
              <a:t>• AI-powered farming assistance</a:t>
            </a:r>
          </a:p>
          <a:p>
            <a:pPr>
              <a:spcAft>
                <a:spcPts val="600"/>
              </a:spcAft>
              <a:defRPr sz="1300">
                <a:solidFill>
                  <a:srgbClr val="5A645F"/>
                </a:solidFill>
                <a:latin typeface="Aptos"/>
              </a:defRPr>
            </a:pPr>
            <a:r>
              <a:t>• Dashboards, orders and communication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26035"/>
                </a:solidFill>
                <a:latin typeface="Aptos"/>
              </a:rPr>
              <a:t>OUR FUNCTIONAL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8595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5F"/>
                </a:solidFill>
                <a:latin typeface="Aptos"/>
              </a:rPr>
              <a:t>A deployed product that can be accessed, tested and demonstrated.</a:t>
            </a:r>
          </a:p>
        </p:txBody>
      </p:sp>
      <p:pic>
        <p:nvPicPr>
          <p:cNvPr id="5" name="Picture 4" descr="Agro-Shiel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201168"/>
            <a:ext cx="987552" cy="658368"/>
          </a:xfrm>
          <a:prstGeom prst="rect">
            <a:avLst/>
          </a:prstGeom>
        </p:spPr>
      </p:pic>
      <p:pic>
        <p:nvPicPr>
          <p:cNvPr id="6" name="Picture 5" descr="377e2eff-7647-4733-a872-5ddbd2549d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82880"/>
            <a:ext cx="1691640" cy="1052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67160" y="6565392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2578608" cy="3429000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2212848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A4C30"/>
                </a:solidFill>
                <a:latin typeface="Aptos"/>
              </a:rPr>
              <a:t>AGRO-SHIELD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" y="2331720"/>
            <a:ext cx="1600200" cy="73152"/>
          </a:xfrm>
          <a:prstGeom prst="roundRect">
            <a:avLst/>
          </a:prstGeom>
          <a:solidFill>
            <a:srgbClr val="D9E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2496312"/>
            <a:ext cx="1600200" cy="73152"/>
          </a:xfrm>
          <a:prstGeom prst="roundRect">
            <a:avLst/>
          </a:prstGeom>
          <a:solidFill>
            <a:srgbClr val="D9E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8408" y="2660903"/>
            <a:ext cx="1600200" cy="73152"/>
          </a:xfrm>
          <a:prstGeom prst="roundRect">
            <a:avLst/>
          </a:prstGeom>
          <a:solidFill>
            <a:srgbClr val="D9E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8408" y="2825496"/>
            <a:ext cx="1600200" cy="73152"/>
          </a:xfrm>
          <a:prstGeom prst="roundRect">
            <a:avLst/>
          </a:prstGeom>
          <a:solidFill>
            <a:srgbClr val="D9E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37560"/>
            <a:ext cx="22128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A4C30"/>
                </a:solidFill>
                <a:latin typeface="Aptos"/>
              </a:rPr>
              <a:t>Landing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22191"/>
            <a:ext cx="193852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A645F"/>
                </a:solidFill>
                <a:latin typeface="Aptos"/>
              </a:rPr>
              <a:t>Introduces Agro-Shield and guides users into the platform.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93008" y="1417320"/>
            <a:ext cx="2578608" cy="3429000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75887" y="1691640"/>
            <a:ext cx="2212848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13048" y="193852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A4C30"/>
                </a:solidFill>
                <a:latin typeface="Aptos"/>
              </a:rPr>
              <a:t>AGRO-SHIELD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77056" y="2331720"/>
            <a:ext cx="1600200" cy="73152"/>
          </a:xfrm>
          <a:prstGeom prst="roundRect">
            <a:avLst/>
          </a:prstGeom>
          <a:solidFill>
            <a:srgbClr val="D9E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77056" y="2496312"/>
            <a:ext cx="1600200" cy="73152"/>
          </a:xfrm>
          <a:prstGeom prst="roundRect">
            <a:avLst/>
          </a:prstGeom>
          <a:solidFill>
            <a:srgbClr val="D9E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77056" y="2660903"/>
            <a:ext cx="1600200" cy="73152"/>
          </a:xfrm>
          <a:prstGeom prst="roundRect">
            <a:avLst/>
          </a:prstGeom>
          <a:solidFill>
            <a:srgbClr val="D9E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877056" y="2825496"/>
            <a:ext cx="1600200" cy="73152"/>
          </a:xfrm>
          <a:prstGeom prst="roundRect">
            <a:avLst/>
          </a:prstGeom>
          <a:solidFill>
            <a:srgbClr val="D9E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7" y="3337560"/>
            <a:ext cx="22128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A4C30"/>
                </a:solidFill>
                <a:latin typeface="Aptos"/>
              </a:rPr>
              <a:t>Farmer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3048" y="3822191"/>
            <a:ext cx="193852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A645F"/>
                </a:solidFill>
                <a:latin typeface="Aptos"/>
              </a:rPr>
              <a:t>Supports farmer profiles and agricultural activities.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91656" y="1417320"/>
            <a:ext cx="2578608" cy="3429000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74536" y="1691640"/>
            <a:ext cx="2212848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11696" y="193852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A4C30"/>
                </a:solidFill>
                <a:latin typeface="Aptos"/>
              </a:rPr>
              <a:t>AGRO-SHIELD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75704" y="2331720"/>
            <a:ext cx="1600200" cy="73152"/>
          </a:xfrm>
          <a:prstGeom prst="roundRect">
            <a:avLst/>
          </a:prstGeom>
          <a:solidFill>
            <a:srgbClr val="D9E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75704" y="2496312"/>
            <a:ext cx="1600200" cy="73152"/>
          </a:xfrm>
          <a:prstGeom prst="roundRect">
            <a:avLst/>
          </a:prstGeom>
          <a:solidFill>
            <a:srgbClr val="D9E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775704" y="2660903"/>
            <a:ext cx="1600200" cy="73152"/>
          </a:xfrm>
          <a:prstGeom prst="roundRect">
            <a:avLst/>
          </a:prstGeom>
          <a:solidFill>
            <a:srgbClr val="D9E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775704" y="2825496"/>
            <a:ext cx="1600200" cy="73152"/>
          </a:xfrm>
          <a:prstGeom prst="roundRect">
            <a:avLst/>
          </a:prstGeom>
          <a:solidFill>
            <a:srgbClr val="D9E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74536" y="3337560"/>
            <a:ext cx="22128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A4C30"/>
                </a:solidFill>
                <a:latin typeface="Aptos"/>
              </a:rPr>
              <a:t>Marketplace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11696" y="3822191"/>
            <a:ext cx="193852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A645F"/>
                </a:solidFill>
                <a:latin typeface="Aptos"/>
              </a:rPr>
              <a:t>Enables discovery and listing of agricultural products.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90304" y="1417320"/>
            <a:ext cx="2578608" cy="3429000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73184" y="1691640"/>
            <a:ext cx="2212848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10344" y="1938528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A4C30"/>
                </a:solidFill>
                <a:latin typeface="Aptos"/>
              </a:rPr>
              <a:t>AGRO-SHIELD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74352" y="2331720"/>
            <a:ext cx="1600200" cy="73152"/>
          </a:xfrm>
          <a:prstGeom prst="roundRect">
            <a:avLst/>
          </a:prstGeom>
          <a:solidFill>
            <a:srgbClr val="D9E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674352" y="2496312"/>
            <a:ext cx="1600200" cy="73152"/>
          </a:xfrm>
          <a:prstGeom prst="roundRect">
            <a:avLst/>
          </a:prstGeom>
          <a:solidFill>
            <a:srgbClr val="D9E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674352" y="2660903"/>
            <a:ext cx="1600200" cy="73152"/>
          </a:xfrm>
          <a:prstGeom prst="roundRect">
            <a:avLst/>
          </a:prstGeom>
          <a:solidFill>
            <a:srgbClr val="D9E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674352" y="2825496"/>
            <a:ext cx="1600200" cy="73152"/>
          </a:xfrm>
          <a:prstGeom prst="roundRect">
            <a:avLst/>
          </a:prstGeom>
          <a:solidFill>
            <a:srgbClr val="D9E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73184" y="3337560"/>
            <a:ext cx="22128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A4C30"/>
                </a:solidFill>
                <a:latin typeface="Aptos"/>
              </a:rPr>
              <a:t>AI Assistant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10344" y="3822191"/>
            <a:ext cx="193852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A645F"/>
                </a:solidFill>
                <a:latin typeface="Aptos"/>
              </a:rPr>
              <a:t>Provides an agricultural question-and-answer workflow.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28800" y="5257800"/>
            <a:ext cx="8549640" cy="621792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>
            <a:hlinkClick r:id="rId4"/>
          </p:cNvPr>
          <p:cNvSpPr txBox="1"/>
          <p:nvPr/>
        </p:nvSpPr>
        <p:spPr>
          <a:xfrm>
            <a:off x="2011680" y="5449824"/>
            <a:ext cx="8183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A4C30"/>
                </a:solidFill>
                <a:latin typeface="Aptos"/>
              </a:rPr>
              <a:t>LIVE DEMO  •  https://agro-shield.onrender.com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48840" y="6035040"/>
            <a:ext cx="7863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45F"/>
                </a:solidFill>
                <a:latin typeface="Aptos"/>
              </a:rPr>
              <a:t>The MVP is already deployed and ready for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26035"/>
                </a:solidFill>
                <a:latin typeface="Aptos"/>
              </a:rPr>
              <a:t>CURRENT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8595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5F"/>
                </a:solidFill>
                <a:latin typeface="Aptos"/>
              </a:rPr>
              <a:t>What Agro-Shield can demonstrate today.</a:t>
            </a:r>
          </a:p>
        </p:txBody>
      </p:sp>
      <p:pic>
        <p:nvPicPr>
          <p:cNvPr id="5" name="Picture 4" descr="Agro-Shiel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201168"/>
            <a:ext cx="987552" cy="658368"/>
          </a:xfrm>
          <a:prstGeom prst="rect">
            <a:avLst/>
          </a:prstGeom>
        </p:spPr>
      </p:pic>
      <p:pic>
        <p:nvPicPr>
          <p:cNvPr id="6" name="Picture 5" descr="377e2eff-7647-4733-a872-5ddbd2549d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82880"/>
            <a:ext cx="1691640" cy="1052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67160" y="6565392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074920" cy="1143000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A4C30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508760"/>
            <a:ext cx="39776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4C30"/>
                </a:solidFill>
                <a:latin typeface="Aptos"/>
              </a:rPr>
              <a:t>Farmer registration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892807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5F"/>
                </a:solidFill>
                <a:latin typeface="Aptos"/>
              </a:rPr>
              <a:t>Secure account creation and profile management.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074920" cy="1143000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A4C30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79" y="1508760"/>
            <a:ext cx="39776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4C30"/>
                </a:solidFill>
                <a:latin typeface="Aptos"/>
              </a:rPr>
              <a:t>Role-based dashboards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79" y="1892807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5F"/>
                </a:solidFill>
                <a:latin typeface="Aptos"/>
              </a:rPr>
              <a:t>Separate experiences for farmers and buyers.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715768"/>
            <a:ext cx="5074920" cy="1143000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9443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A4C30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898648"/>
            <a:ext cx="39776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4C30"/>
                </a:solidFill>
                <a:latin typeface="Aptos"/>
              </a:rPr>
              <a:t>Marketplace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282696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5F"/>
                </a:solidFill>
                <a:latin typeface="Aptos"/>
              </a:rPr>
              <a:t>Digital product discovery and agricultural listings.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715768"/>
            <a:ext cx="5074920" cy="1143000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9443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A4C30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79" y="2898648"/>
            <a:ext cx="39776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4C30"/>
                </a:solidFill>
                <a:latin typeface="Aptos"/>
              </a:rPr>
              <a:t>AI farming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3282696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5F"/>
                </a:solidFill>
                <a:latin typeface="Aptos"/>
              </a:rPr>
              <a:t>Gemini-powered agricultural guidance workflow.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05656"/>
            <a:ext cx="5074920" cy="1143000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334256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A4C30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288536"/>
            <a:ext cx="39776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4C30"/>
                </a:solidFill>
                <a:latin typeface="Aptos"/>
              </a:rPr>
              <a:t>PostgreSQL 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672584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5F"/>
                </a:solidFill>
                <a:latin typeface="Aptos"/>
              </a:rPr>
              <a:t>Persistent relational storage with migrations.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105656"/>
            <a:ext cx="5074920" cy="1143000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334256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A4C30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79" y="4288536"/>
            <a:ext cx="39776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4C30"/>
                </a:solidFill>
                <a:latin typeface="Aptos"/>
              </a:rPr>
              <a:t>Authentication &amp;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79" y="4672584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5F"/>
                </a:solidFill>
                <a:latin typeface="Aptos"/>
              </a:rPr>
              <a:t>Protected routes, password hashing and access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26035"/>
                </a:solidFill>
                <a:latin typeface="Aptos"/>
              </a:rPr>
              <a:t>AI FARMING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8595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5F"/>
                </a:solidFill>
                <a:latin typeface="Aptos"/>
              </a:rPr>
              <a:t>Practical agricultural guidance integrated into the platform.</a:t>
            </a:r>
          </a:p>
        </p:txBody>
      </p:sp>
      <p:pic>
        <p:nvPicPr>
          <p:cNvPr id="5" name="Picture 4" descr="Agro-Shiel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201168"/>
            <a:ext cx="987552" cy="658368"/>
          </a:xfrm>
          <a:prstGeom prst="rect">
            <a:avLst/>
          </a:prstGeom>
        </p:spPr>
      </p:pic>
      <p:pic>
        <p:nvPicPr>
          <p:cNvPr id="6" name="Picture 5" descr="377e2eff-7647-4733-a872-5ddbd2549d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82880"/>
            <a:ext cx="1691640" cy="1052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67160" y="6565392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303520" cy="4480560"/>
          </a:xfrm>
          <a:prstGeom prst="roundRect">
            <a:avLst/>
          </a:prstGeom>
          <a:solidFill>
            <a:srgbClr val="0E3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82880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AGRO-SHIELD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514600"/>
            <a:ext cx="4480560" cy="438912"/>
          </a:xfrm>
          <a:prstGeom prst="roundRect">
            <a:avLst/>
          </a:prstGeom>
          <a:solidFill>
            <a:srgbClr val="1C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60604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✓  Disease and pest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136392"/>
            <a:ext cx="4480560" cy="438912"/>
          </a:xfrm>
          <a:prstGeom prst="roundRect">
            <a:avLst/>
          </a:prstGeom>
          <a:solidFill>
            <a:srgbClr val="1C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227832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✓  Treatment and prevention guidance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758184"/>
            <a:ext cx="4480560" cy="438912"/>
          </a:xfrm>
          <a:prstGeom prst="roundRect">
            <a:avLst/>
          </a:prstGeom>
          <a:solidFill>
            <a:srgbClr val="1C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849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✓  Crop-care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379976"/>
            <a:ext cx="4480560" cy="438912"/>
          </a:xfrm>
          <a:prstGeom prst="roundRect">
            <a:avLst/>
          </a:prstGeom>
          <a:solidFill>
            <a:srgbClr val="1C5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47141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✓  Practical farming recommendations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417320"/>
            <a:ext cx="4983480" cy="4480560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1810512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A4C30"/>
                </a:solidFill>
                <a:latin typeface="Aptos"/>
              </a:rPr>
              <a:t>Why it matters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514600"/>
            <a:ext cx="40690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5A645F"/>
                </a:solidFill>
                <a:latin typeface="Aptos"/>
              </a:defRPr>
            </a:pPr>
            <a:r>
              <a:t>• Lowers the barrier to basic agricultural information.</a:t>
            </a:r>
          </a:p>
          <a:p>
            <a:pPr>
              <a:spcAft>
                <a:spcPts val="600"/>
              </a:spcAft>
              <a:defRPr sz="1300">
                <a:solidFill>
                  <a:srgbClr val="5A645F"/>
                </a:solidFill>
                <a:latin typeface="Aptos"/>
              </a:defRPr>
            </a:pPr>
            <a:r>
              <a:t>• Available as part of the digital platform.</a:t>
            </a:r>
          </a:p>
          <a:p>
            <a:pPr>
              <a:spcAft>
                <a:spcPts val="600"/>
              </a:spcAft>
              <a:defRPr sz="1300">
                <a:solidFill>
                  <a:srgbClr val="5A645F"/>
                </a:solidFill>
                <a:latin typeface="Aptos"/>
              </a:defRPr>
            </a:pPr>
            <a:r>
              <a:t>• Creates a foundation for future disease and advisory tools.</a:t>
            </a:r>
          </a:p>
          <a:p>
            <a:pPr>
              <a:spcAft>
                <a:spcPts val="600"/>
              </a:spcAft>
              <a:defRPr sz="1300">
                <a:solidFill>
                  <a:srgbClr val="5A645F"/>
                </a:solidFill>
                <a:latin typeface="Aptos"/>
              </a:defRPr>
            </a:pPr>
            <a:r>
              <a:t>• Can complement human extension services and expert support.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5257800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4C30"/>
                </a:solidFill>
                <a:latin typeface="Aptos"/>
              </a:rPr>
              <a:t>Integrated through the Gemini API.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26035"/>
                </a:solidFill>
                <a:latin typeface="Aptos"/>
              </a:rPr>
              <a:t>VALIDATION &amp;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8595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5F"/>
                </a:solidFill>
                <a:latin typeface="Aptos"/>
              </a:rPr>
              <a:t>The product direction is grounded in real conversations.</a:t>
            </a:r>
          </a:p>
        </p:txBody>
      </p:sp>
      <p:pic>
        <p:nvPicPr>
          <p:cNvPr id="5" name="Picture 4" descr="Agro-Shiel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201168"/>
            <a:ext cx="987552" cy="658368"/>
          </a:xfrm>
          <a:prstGeom prst="rect">
            <a:avLst/>
          </a:prstGeom>
        </p:spPr>
      </p:pic>
      <p:pic>
        <p:nvPicPr>
          <p:cNvPr id="6" name="Picture 5" descr="377e2eff-7647-4733-a872-5ddbd2549d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82880"/>
            <a:ext cx="1691640" cy="1052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67160" y="6565392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53312"/>
            <a:ext cx="2788920" cy="530352"/>
          </a:xfrm>
          <a:prstGeom prst="roundRect">
            <a:avLst/>
          </a:prstGeom>
          <a:solidFill>
            <a:srgbClr val="0A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17904"/>
            <a:ext cx="269747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USER GROUP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353312"/>
            <a:ext cx="3429000" cy="530352"/>
          </a:xfrm>
          <a:prstGeom prst="roundRect">
            <a:avLst/>
          </a:prstGeom>
          <a:solidFill>
            <a:srgbClr val="0A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517904"/>
            <a:ext cx="3337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KEY FINDING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353312"/>
            <a:ext cx="4160520" cy="530352"/>
          </a:xfrm>
          <a:prstGeom prst="roundRect">
            <a:avLst/>
          </a:prstGeom>
          <a:solidFill>
            <a:srgbClr val="0A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517904"/>
            <a:ext cx="4069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WHAT THEY NEED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975104"/>
            <a:ext cx="2788920" cy="612648"/>
          </a:xfrm>
          <a:prstGeom prst="roundRect">
            <a:avLst/>
          </a:prstGeom>
          <a:solidFill>
            <a:srgbClr val="EFF7E7"/>
          </a:solidFill>
          <a:ln w="15240">
            <a:solidFill>
              <a:srgbClr val="DC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093976"/>
            <a:ext cx="2606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1">
                <a:solidFill>
                  <a:srgbClr val="0A4C30"/>
                </a:solidFill>
                <a:latin typeface="Aptos"/>
              </a:rPr>
              <a:t>Farmers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1975104"/>
            <a:ext cx="3429000" cy="612648"/>
          </a:xfrm>
          <a:prstGeom prst="roundRect">
            <a:avLst/>
          </a:prstGeom>
          <a:solidFill>
            <a:srgbClr val="EFF7E7"/>
          </a:solidFill>
          <a:ln w="15240">
            <a:solidFill>
              <a:srgbClr val="DC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2093976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5A645F"/>
                </a:solidFill>
                <a:latin typeface="Aptos"/>
              </a:rPr>
              <a:t>Legitimate buyers are difficult to find.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975104"/>
            <a:ext cx="4160520" cy="612648"/>
          </a:xfrm>
          <a:prstGeom prst="roundRect">
            <a:avLst/>
          </a:prstGeom>
          <a:solidFill>
            <a:srgbClr val="EFF7E7"/>
          </a:solidFill>
          <a:ln w="15240">
            <a:solidFill>
              <a:srgbClr val="DC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2093976"/>
            <a:ext cx="3977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5A645F"/>
                </a:solidFill>
                <a:latin typeface="Aptos"/>
              </a:rPr>
              <a:t>Better market access + price transparency.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734056"/>
            <a:ext cx="2788920" cy="612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19" y="2852928"/>
            <a:ext cx="2606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1">
                <a:solidFill>
                  <a:srgbClr val="0A4C30"/>
                </a:solidFill>
                <a:latin typeface="Aptos"/>
              </a:rPr>
              <a:t>Food businesses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2734056"/>
            <a:ext cx="3429000" cy="612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39" y="2852928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5A645F"/>
                </a:solidFill>
                <a:latin typeface="Aptos"/>
              </a:rPr>
              <a:t>Reliable farmers and suppliers are difficult to reach.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2734056"/>
            <a:ext cx="4160520" cy="612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2852928"/>
            <a:ext cx="3977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5A645F"/>
                </a:solidFill>
                <a:latin typeface="Aptos"/>
              </a:rPr>
              <a:t>Consistent supplier discovery.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493008"/>
            <a:ext cx="2788920" cy="612648"/>
          </a:xfrm>
          <a:prstGeom prst="roundRect">
            <a:avLst/>
          </a:prstGeom>
          <a:solidFill>
            <a:srgbClr val="EFF7E7"/>
          </a:solidFill>
          <a:ln w="15240">
            <a:solidFill>
              <a:srgbClr val="DC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19" y="3611880"/>
            <a:ext cx="2606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1">
                <a:solidFill>
                  <a:srgbClr val="0A4C30"/>
                </a:solidFill>
                <a:latin typeface="Aptos"/>
              </a:rPr>
              <a:t>Poultry farms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3493008"/>
            <a:ext cx="3429000" cy="612648"/>
          </a:xfrm>
          <a:prstGeom prst="roundRect">
            <a:avLst/>
          </a:prstGeom>
          <a:solidFill>
            <a:srgbClr val="EFF7E7"/>
          </a:solidFill>
          <a:ln w="15240">
            <a:solidFill>
              <a:srgbClr val="DC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39" y="361188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5A645F"/>
                </a:solidFill>
                <a:latin typeface="Aptos"/>
              </a:rPr>
              <a:t>Customers outside the local area cannot easily locate them.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60920" y="3493008"/>
            <a:ext cx="4160520" cy="612648"/>
          </a:xfrm>
          <a:prstGeom prst="roundRect">
            <a:avLst/>
          </a:prstGeom>
          <a:solidFill>
            <a:srgbClr val="EFF7E7"/>
          </a:solidFill>
          <a:ln w="15240">
            <a:solidFill>
              <a:srgbClr val="DC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3611880"/>
            <a:ext cx="3977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5A645F"/>
                </a:solidFill>
                <a:latin typeface="Aptos"/>
              </a:rPr>
              <a:t>Online visibility + ordering.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251960"/>
            <a:ext cx="2788920" cy="612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19" y="4370832"/>
            <a:ext cx="2606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1">
                <a:solidFill>
                  <a:srgbClr val="0A4C30"/>
                </a:solidFill>
                <a:latin typeface="Aptos"/>
              </a:rPr>
              <a:t>Agricultural agencies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0" y="4251960"/>
            <a:ext cx="3429000" cy="612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39" y="4370832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5A645F"/>
                </a:solidFill>
                <a:latin typeface="Aptos"/>
              </a:rPr>
              <a:t>Reaching genuine farmers is difficult.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60920" y="4251960"/>
            <a:ext cx="4160520" cy="612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4370832"/>
            <a:ext cx="3977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5A645F"/>
                </a:solidFill>
                <a:latin typeface="Aptos"/>
              </a:rPr>
              <a:t>Digital outreach and partnerships.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010912"/>
            <a:ext cx="2788920" cy="612648"/>
          </a:xfrm>
          <a:prstGeom prst="roundRect">
            <a:avLst/>
          </a:prstGeom>
          <a:solidFill>
            <a:srgbClr val="EFF7E7"/>
          </a:solidFill>
          <a:ln w="15240">
            <a:solidFill>
              <a:srgbClr val="DC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19" y="5129784"/>
            <a:ext cx="2606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1">
                <a:solidFill>
                  <a:srgbClr val="0A4C30"/>
                </a:solidFill>
                <a:latin typeface="Aptos"/>
              </a:rPr>
              <a:t>Consumers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0" y="5010912"/>
            <a:ext cx="3429000" cy="612648"/>
          </a:xfrm>
          <a:prstGeom prst="roundRect">
            <a:avLst/>
          </a:prstGeom>
          <a:solidFill>
            <a:srgbClr val="EFF7E7"/>
          </a:solidFill>
          <a:ln w="15240">
            <a:solidFill>
              <a:srgbClr val="DC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39" y="5129784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5A645F"/>
                </a:solidFill>
                <a:latin typeface="Aptos"/>
              </a:rPr>
              <a:t>Buying quality food can require physical market searching.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60920" y="5010912"/>
            <a:ext cx="4160520" cy="612648"/>
          </a:xfrm>
          <a:prstGeom prst="roundRect">
            <a:avLst/>
          </a:prstGeom>
          <a:solidFill>
            <a:srgbClr val="EFF7E7"/>
          </a:solidFill>
          <a:ln w="15240">
            <a:solidFill>
              <a:srgbClr val="DCE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52360" y="5129784"/>
            <a:ext cx="3977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5A645F"/>
                </a:solidFill>
                <a:latin typeface="Aptos"/>
              </a:rPr>
              <a:t>Convenient product discovery.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989320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0A4C30"/>
                </a:solidFill>
                <a:latin typeface="Aptos"/>
              </a:rPr>
              <a:t>VALIDATION PRINCIPLE  •  Build around real pain points, then demonstrate the workflow.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26035"/>
                </a:solidFill>
                <a:latin typeface="Aptos"/>
              </a:rPr>
              <a:t>BUSINESS &amp; 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8595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5F"/>
                </a:solidFill>
                <a:latin typeface="Aptos"/>
              </a:rPr>
              <a:t>Multiple paths toward long-term sustainability.</a:t>
            </a:r>
          </a:p>
        </p:txBody>
      </p:sp>
      <p:pic>
        <p:nvPicPr>
          <p:cNvPr id="5" name="Picture 4" descr="Agro-Shiel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201168"/>
            <a:ext cx="987552" cy="658368"/>
          </a:xfrm>
          <a:prstGeom prst="rect">
            <a:avLst/>
          </a:prstGeom>
        </p:spPr>
      </p:pic>
      <p:pic>
        <p:nvPicPr>
          <p:cNvPr id="6" name="Picture 5" descr="377e2eff-7647-4733-a872-5ddbd2549d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82880"/>
            <a:ext cx="1691640" cy="1052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67160" y="6565392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074920" cy="1444752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82496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DA6923"/>
                </a:solidFill>
                <a:latin typeface="Aptos"/>
              </a:rPr>
              <a:t>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572768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A4C30"/>
                </a:solidFill>
                <a:latin typeface="Aptos"/>
              </a:rPr>
              <a:t>Transaction commission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993392"/>
            <a:ext cx="374903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45F"/>
                </a:solidFill>
                <a:latin typeface="Aptos"/>
              </a:rPr>
              <a:t>Small commission on successful marketplace transactions.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074920" cy="1444752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82496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DA6923"/>
                </a:solidFill>
                <a:latin typeface="Aptos"/>
              </a:rPr>
              <a:t>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572768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A4C30"/>
                </a:solidFill>
                <a:latin typeface="Aptos"/>
              </a:rPr>
              <a:t>Premium business accounts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993392"/>
            <a:ext cx="374903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45F"/>
                </a:solidFill>
                <a:latin typeface="Aptos"/>
              </a:rPr>
              <a:t>Optional premium tools for businesses and high-volume buyers.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00400"/>
            <a:ext cx="5074920" cy="1444752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11296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DA6923"/>
                </a:solidFill>
                <a:latin typeface="Aptos"/>
              </a:rPr>
              <a:t>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401568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A4C30"/>
                </a:solidFill>
                <a:latin typeface="Aptos"/>
              </a:rPr>
              <a:t>Premium farmer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822191"/>
            <a:ext cx="374903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45F"/>
                </a:solidFill>
                <a:latin typeface="Aptos"/>
              </a:rPr>
              <a:t>Advanced analytics, forecasting and market/storage tools.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200400"/>
            <a:ext cx="5074920" cy="1444752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511296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DA6923"/>
                </a:solidFill>
                <a:latin typeface="Aptos"/>
              </a:rPr>
              <a:t>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401568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A4C30"/>
                </a:solidFill>
                <a:latin typeface="Aptos"/>
              </a:rPr>
              <a:t>Institutional partnerships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822191"/>
            <a:ext cx="374903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45F"/>
                </a:solidFill>
                <a:latin typeface="Aptos"/>
              </a:rPr>
              <a:t>Partnerships with agencies, cooperatives and organizations.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5166360"/>
            <a:ext cx="6675120" cy="713232"/>
          </a:xfrm>
          <a:prstGeom prst="roundRect">
            <a:avLst/>
          </a:prstGeom>
          <a:solidFill>
            <a:srgbClr val="F7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5376672"/>
            <a:ext cx="6309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DA6923"/>
                </a:solidFill>
                <a:latin typeface="Aptos"/>
              </a:rPr>
              <a:t>Illustrative marketplace commission: 2–5% per successful transaction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26035"/>
                </a:solidFill>
                <a:latin typeface="Aptos"/>
              </a:rPr>
              <a:t>MARKET, IMPACT &amp; JOB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8595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5F"/>
                </a:solidFill>
                <a:latin typeface="Aptos"/>
              </a:rPr>
              <a:t>A digital layer for people already active in agriculture.</a:t>
            </a:r>
          </a:p>
        </p:txBody>
      </p:sp>
      <p:pic>
        <p:nvPicPr>
          <p:cNvPr id="5" name="Picture 4" descr="Agro-Shiel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201168"/>
            <a:ext cx="987552" cy="658368"/>
          </a:xfrm>
          <a:prstGeom prst="rect">
            <a:avLst/>
          </a:prstGeom>
        </p:spPr>
      </p:pic>
      <p:pic>
        <p:nvPicPr>
          <p:cNvPr id="6" name="Picture 5" descr="377e2eff-7647-4733-a872-5ddbd2549d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82880"/>
            <a:ext cx="1691640" cy="1052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67160" y="6565392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A4C30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37160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A4C30"/>
                </a:solidFill>
                <a:latin typeface="Aptos"/>
              </a:rPr>
              <a:t>Target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37360"/>
            <a:ext cx="4251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45F"/>
                </a:solidFill>
                <a:latin typeface="Aptos"/>
              </a:rPr>
              <a:t>Smallholder farmers, buyers, food businesses, consumers and agricultural organizations.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A4C30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724912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A4C30"/>
                </a:solidFill>
                <a:latin typeface="Aptos"/>
              </a:rPr>
              <a:t>Impact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90672"/>
            <a:ext cx="4251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45F"/>
                </a:solidFill>
                <a:latin typeface="Aptos"/>
              </a:rPr>
              <a:t>Reduce post-harvest losses; improve price transparency; increase farmer income and market access.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78224"/>
            <a:ext cx="411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A4C30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78224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0A4C30"/>
                </a:solidFill>
                <a:latin typeface="Aptos"/>
              </a:rPr>
              <a:t>Economic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443984"/>
            <a:ext cx="4251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A645F"/>
                </a:solidFill>
                <a:latin typeface="Aptos"/>
              </a:rPr>
              <a:t>Create roles around onboarding, field verification, customer support, logistics and partnerships.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417320"/>
            <a:ext cx="5074920" cy="4343400"/>
          </a:xfrm>
          <a:prstGeom prst="roundRect">
            <a:avLst/>
          </a:prstGeom>
          <a:solidFill>
            <a:srgbClr val="0E3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828800"/>
            <a:ext cx="4343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LONG-TERM 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606040"/>
            <a:ext cx="406908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D8EDDB"/>
                </a:solidFill>
                <a:latin typeface="Aptos"/>
              </a:rPr>
              <a:t>A trusted digital agricultural ecosystem where farmers can be found, buyers can source confidently, organizations can reach communities, and consumers can access quality produce.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800600"/>
            <a:ext cx="4251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Local discovery → trusted transactions → stronger communities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26035"/>
                </a:solidFill>
                <a:latin typeface="Apto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8595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5F"/>
                </a:solidFill>
                <a:latin typeface="Aptos"/>
              </a:rPr>
              <a:t>From functional MVP toward a complete agricultural ecosystem.</a:t>
            </a:r>
          </a:p>
        </p:txBody>
      </p:sp>
      <p:pic>
        <p:nvPicPr>
          <p:cNvPr id="5" name="Picture 4" descr="Agro-Shiel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201168"/>
            <a:ext cx="987552" cy="658368"/>
          </a:xfrm>
          <a:prstGeom prst="rect">
            <a:avLst/>
          </a:prstGeom>
        </p:spPr>
      </p:pic>
      <p:pic>
        <p:nvPicPr>
          <p:cNvPr id="6" name="Picture 5" descr="377e2eff-7647-4733-a872-5ddbd2549d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82880"/>
            <a:ext cx="1691640" cy="1052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67160" y="6565392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2606040" cy="4526280"/>
          </a:xfrm>
          <a:prstGeom prst="roundRect">
            <a:avLst/>
          </a:prstGeom>
          <a:solidFill>
            <a:srgbClr val="EFF7E7"/>
          </a:solidFill>
          <a:ln w="15240">
            <a:solidFill>
              <a:srgbClr val="6FA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DA6923"/>
                </a:solidFill>
                <a:latin typeface="Aptos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2140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A4C30"/>
                </a:solidFill>
                <a:latin typeface="Aptos"/>
              </a:rP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214884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45F"/>
                </a:solidFill>
                <a:latin typeface="Aptos"/>
              </a:rPr>
              <a:t>✓ Registration
✓ Authentication
✓ Dashboards
✓ AI assistant
✓ PostgreSQL
✓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333756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FA62A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417320"/>
            <a:ext cx="260604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A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73736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DA6923"/>
                </a:solidFill>
                <a:latin typeface="Aptos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12140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A4C30"/>
                </a:solidFill>
                <a:latin typeface="Aptos"/>
              </a:rPr>
              <a:t>MARKETPLACE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788920"/>
            <a:ext cx="214884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45F"/>
                </a:solidFill>
                <a:latin typeface="Aptos"/>
              </a:rPr>
              <a:t>✓ Product listings
✓ Buyer interaction
→ Orders &amp; payments
✓ Negotiation
→ Ratings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5312" y="333756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FA62A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417320"/>
            <a:ext cx="260604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A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73736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DA6923"/>
                </a:solidFill>
                <a:latin typeface="Aptos"/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12140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A4C30"/>
                </a:solidFill>
                <a:latin typeface="Aptos"/>
              </a:rPr>
              <a:t>SMART AGRICULTURE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788920"/>
            <a:ext cx="214884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45F"/>
                </a:solidFill>
                <a:latin typeface="Aptos"/>
              </a:rPr>
              <a:t>→ Price prediction
◐ Storage monitoring — IN PROGRESS
◐ Disease detection — IN PROGRESS
◐ Weather insights — IN PROGRESS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333756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6FA62A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417320"/>
            <a:ext cx="260604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A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173736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DA6923"/>
                </a:solidFill>
                <a:latin typeface="Aptos"/>
              </a:rPr>
              <a:t>PHASE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12140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A4C30"/>
                </a:solidFill>
                <a:latin typeface="Aptos"/>
              </a:rPr>
              <a:t>RURAL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2788920"/>
            <a:ext cx="214884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645F"/>
                </a:solidFill>
                <a:latin typeface="Aptos"/>
              </a:rPr>
              <a:t>→ USSD access
→ Local languages
→ Offline/low-connectivity tools
→ Farmer education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26035"/>
                </a:solidFill>
                <a:latin typeface="Aptos"/>
              </a:rPr>
              <a:t>TECHNOLOGY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8595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45F"/>
                </a:solidFill>
                <a:latin typeface="Aptos"/>
              </a:rPr>
              <a:t>A practical stack for a secure and maintainable MVP.</a:t>
            </a:r>
          </a:p>
        </p:txBody>
      </p:sp>
      <p:pic>
        <p:nvPicPr>
          <p:cNvPr id="5" name="Picture 4" descr="Agro-Shiel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201168"/>
            <a:ext cx="987552" cy="658368"/>
          </a:xfrm>
          <a:prstGeom prst="rect">
            <a:avLst/>
          </a:prstGeom>
        </p:spPr>
      </p:pic>
      <p:pic>
        <p:nvPicPr>
          <p:cNvPr id="6" name="Picture 5" descr="377e2eff-7647-4733-a872-5ddbd2549d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82880"/>
            <a:ext cx="1691640" cy="1052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67160" y="6565392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2331720" cy="640080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08760"/>
            <a:ext cx="21854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0A4C30"/>
                </a:solidFill>
                <a:latin typeface="Aptos"/>
              </a:rPr>
              <a:t>Go (Golang)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25880"/>
            <a:ext cx="2331720" cy="640080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1508760"/>
            <a:ext cx="21854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0A4C30"/>
                </a:solidFill>
                <a:latin typeface="Aptos"/>
              </a:rPr>
              <a:t>net/http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40280"/>
            <a:ext cx="2331720" cy="640080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423160"/>
            <a:ext cx="21854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0A4C30"/>
                </a:solidFill>
                <a:latin typeface="Aptos"/>
              </a:rPr>
              <a:t>HTML • CSS • JavaScript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240280"/>
            <a:ext cx="2331720" cy="640080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423160"/>
            <a:ext cx="21854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0A4C30"/>
                </a:solidFill>
                <a:latin typeface="Aptos"/>
              </a:rPr>
              <a:t>PostgreSQL + pgx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54680"/>
            <a:ext cx="2331720" cy="640080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337560"/>
            <a:ext cx="21854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0A4C30"/>
                </a:solidFill>
                <a:latin typeface="Aptos"/>
              </a:rPr>
              <a:t>Gemini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154680"/>
            <a:ext cx="2331720" cy="640080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3337560"/>
            <a:ext cx="21854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0A4C30"/>
                </a:solidFill>
                <a:latin typeface="Aptos"/>
              </a:rPr>
              <a:t>bcrypt / authentication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69080"/>
            <a:ext cx="2331720" cy="640080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251960"/>
            <a:ext cx="21854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0A4C30"/>
                </a:solidFill>
                <a:latin typeface="Aptos"/>
              </a:rPr>
              <a:t>Git &amp; GitHub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069080"/>
            <a:ext cx="2331720" cy="640080"/>
          </a:xfrm>
          <a:prstGeom prst="roundRect">
            <a:avLst/>
          </a:prstGeom>
          <a:solidFill>
            <a:srgbClr val="EFF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56432" y="4251960"/>
            <a:ext cx="21854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0A4C30"/>
                </a:solidFill>
                <a:latin typeface="Aptos"/>
              </a:rPr>
              <a:t>Render deployment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325880"/>
            <a:ext cx="5074920" cy="4526280"/>
          </a:xfrm>
          <a:prstGeom prst="roundRect">
            <a:avLst/>
          </a:prstGeom>
          <a:solidFill>
            <a:srgbClr val="0E3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664208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SYSTEM 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2148840"/>
            <a:ext cx="4069080" cy="475488"/>
          </a:xfrm>
          <a:prstGeom prst="roundRect">
            <a:avLst/>
          </a:prstGeom>
          <a:solidFill>
            <a:srgbClr val="1F6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267712"/>
            <a:ext cx="3794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ptos"/>
              </a:rPr>
              <a:t>User Interface  •  HTML / CSS / JS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2807208"/>
            <a:ext cx="4069080" cy="475488"/>
          </a:xfrm>
          <a:prstGeom prst="roundRect">
            <a:avLst/>
          </a:prstGeom>
          <a:solidFill>
            <a:srgbClr val="1F6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2926080"/>
            <a:ext cx="3794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ptos"/>
              </a:rPr>
              <a:t>HTTP Server  •  Go net/http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3465576"/>
            <a:ext cx="4069080" cy="475488"/>
          </a:xfrm>
          <a:prstGeom prst="roundRect">
            <a:avLst/>
          </a:prstGeom>
          <a:solidFill>
            <a:srgbClr val="1F6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3584448"/>
            <a:ext cx="3794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ptos"/>
              </a:rPr>
              <a:t>Application  •  Handlers + Services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4123944"/>
            <a:ext cx="4069080" cy="475488"/>
          </a:xfrm>
          <a:prstGeom prst="roundRect">
            <a:avLst/>
          </a:prstGeom>
          <a:solidFill>
            <a:srgbClr val="1F6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4242816"/>
            <a:ext cx="3794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ptos"/>
              </a:rPr>
              <a:t>Data Access  •  Repository + pgx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4782312"/>
            <a:ext cx="4069080" cy="475488"/>
          </a:xfrm>
          <a:prstGeom prst="roundRect">
            <a:avLst/>
          </a:prstGeom>
          <a:solidFill>
            <a:srgbClr val="1F6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4901184"/>
            <a:ext cx="3794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Aptos"/>
              </a:rPr>
              <a:t>Database  •  PostgreSQL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4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26035"/>
                </a:solidFill>
                <a:latin typeface="Aptos"/>
              </a:rPr>
              <a:t>OUR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8595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>
                <a:solidFill>
                  <a:srgbClr val="1E1E1E"/>
                </a:solidFill>
              </a:rPr>
              <a:t>Passionate people building technology that empowers farmers and connects the agricultural value chain.</a:t>
            </a:r>
          </a:p>
        </p:txBody>
      </p:sp>
      <p:pic>
        <p:nvPicPr>
          <p:cNvPr id="5" name="Picture 4" descr="Agro-Shiel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201168"/>
            <a:ext cx="987552" cy="658368"/>
          </a:xfrm>
          <a:prstGeom prst="rect">
            <a:avLst/>
          </a:prstGeom>
          <a:ln>
            <a:solidFill>
              <a:srgbClr val="FFFFFF"/>
            </a:solidFill>
          </a:ln>
        </p:spPr>
      </p:pic>
      <p:pic>
        <p:nvPicPr>
          <p:cNvPr id="6" name="Picture 5" descr="377e2eff-7647-4733-a872-5ddbd2549d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82880"/>
            <a:ext cx="1691640" cy="1052870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1567160" y="6565392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5669280"/>
            <a:ext cx="5440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0" b="1">
                <a:solidFill>
                  <a:srgbClr val="126035"/>
                </a:solidFill>
              </a:defRPr>
            </a:pPr>
            <a:r>
              <a:t>Shared ownership • Collaboration • Product focus • Delivery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7472" y="1280160"/>
            <a:ext cx="2791891" cy="1965960"/>
          </a:xfrm>
          <a:prstGeom prst="roundRect">
            <a:avLst/>
          </a:prstGeom>
          <a:solidFill>
            <a:srgbClr val="F8FBF7"/>
          </a:solidFill>
          <a:ln w="19050">
            <a:solidFill>
              <a:srgbClr val="126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235925" y="1325880"/>
            <a:ext cx="1014984" cy="10149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6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3357" y="1353312"/>
            <a:ext cx="960120" cy="9601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93192" y="2377440"/>
            <a:ext cx="270045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 i="0">
                <a:solidFill>
                  <a:srgbClr val="12693D"/>
                </a:solidFill>
              </a:rPr>
              <a:t>Akilozi Samuel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192" y="2651760"/>
            <a:ext cx="2700451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0" i="1">
                <a:solidFill>
                  <a:srgbClr val="373737"/>
                </a:solidFill>
              </a:rPr>
              <a:t>Team Lead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4" y="2907792"/>
            <a:ext cx="2737027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30" b="0" i="0">
                <a:solidFill>
                  <a:srgbClr val="2D2D2D"/>
                </a:solidFill>
              </a:rPr>
              <a:t>Strategy • Coordination • Architecture • Delivery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49091" y="1280160"/>
            <a:ext cx="2791891" cy="1965960"/>
          </a:xfrm>
          <a:prstGeom prst="roundRect">
            <a:avLst/>
          </a:prstGeom>
          <a:solidFill>
            <a:srgbClr val="F8FBF7"/>
          </a:solidFill>
          <a:ln w="19050">
            <a:solidFill>
              <a:srgbClr val="126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137544" y="1325880"/>
            <a:ext cx="1014984" cy="10149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6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4976" y="1353312"/>
            <a:ext cx="960120" cy="96012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294811" y="2377440"/>
            <a:ext cx="270045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 i="0">
                <a:solidFill>
                  <a:srgbClr val="12693D"/>
                </a:solidFill>
              </a:rPr>
              <a:t>Adewa James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94811" y="2651760"/>
            <a:ext cx="2700451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0" i="1">
                <a:solidFill>
                  <a:srgbClr val="373737"/>
                </a:solidFill>
              </a:rPr>
              <a:t>Backend Engineer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76523" y="2907792"/>
            <a:ext cx="2737027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30" b="0" i="0">
                <a:solidFill>
                  <a:srgbClr val="2D2D2D"/>
                </a:solidFill>
              </a:rPr>
              <a:t>Backend • APIs • Database • Security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50710" y="1280160"/>
            <a:ext cx="2791891" cy="1965960"/>
          </a:xfrm>
          <a:prstGeom prst="roundRect">
            <a:avLst/>
          </a:prstGeom>
          <a:solidFill>
            <a:srgbClr val="F8FBF7"/>
          </a:solidFill>
          <a:ln w="19050">
            <a:solidFill>
              <a:srgbClr val="126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039163" y="1325880"/>
            <a:ext cx="1014984" cy="10149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6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6595" y="1353312"/>
            <a:ext cx="960120" cy="96012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196430" y="2377440"/>
            <a:ext cx="270045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 i="0">
                <a:solidFill>
                  <a:srgbClr val="12693D"/>
                </a:solidFill>
              </a:rPr>
              <a:t>Otete Benjamin Agogo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96430" y="2651760"/>
            <a:ext cx="2700451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0" i="1">
                <a:solidFill>
                  <a:srgbClr val="373737"/>
                </a:solidFill>
              </a:rPr>
              <a:t>Frontend Engineer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78142" y="2907792"/>
            <a:ext cx="2737027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30" b="0" i="0">
                <a:solidFill>
                  <a:srgbClr val="2D2D2D"/>
                </a:solidFill>
              </a:rPr>
              <a:t>Frontend • UI/UX • Responsive design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52329" y="1280160"/>
            <a:ext cx="2791891" cy="1965960"/>
          </a:xfrm>
          <a:prstGeom prst="roundRect">
            <a:avLst/>
          </a:prstGeom>
          <a:solidFill>
            <a:srgbClr val="F8FBF7"/>
          </a:solidFill>
          <a:ln w="19050">
            <a:solidFill>
              <a:srgbClr val="126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940782" y="1325880"/>
            <a:ext cx="1014984" cy="10149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6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68214" y="1353312"/>
            <a:ext cx="960120" cy="96012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098049" y="2377440"/>
            <a:ext cx="270045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 i="0">
                <a:solidFill>
                  <a:srgbClr val="12693D"/>
                </a:solidFill>
              </a:rPr>
              <a:t>Gabriel Ogaba Eko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98049" y="2651760"/>
            <a:ext cx="2700451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0" i="1">
                <a:solidFill>
                  <a:srgbClr val="373737"/>
                </a:solidFill>
              </a:rPr>
              <a:t>Frontend Engineer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79761" y="2907792"/>
            <a:ext cx="2737027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30" b="0" i="0">
                <a:solidFill>
                  <a:srgbClr val="2D2D2D"/>
                </a:solidFill>
              </a:rPr>
              <a:t>Frontend • User experience • Testing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798283" y="3392424"/>
            <a:ext cx="2791891" cy="1965960"/>
          </a:xfrm>
          <a:prstGeom prst="roundRect">
            <a:avLst/>
          </a:prstGeom>
          <a:solidFill>
            <a:srgbClr val="F8FBF7"/>
          </a:solidFill>
          <a:ln w="19050">
            <a:solidFill>
              <a:srgbClr val="126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2686736" y="3438144"/>
            <a:ext cx="1014984" cy="10149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6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14168" y="3465576"/>
            <a:ext cx="960120" cy="96012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844003" y="4489704"/>
            <a:ext cx="270045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 i="0">
                <a:solidFill>
                  <a:srgbClr val="12693D"/>
                </a:solidFill>
              </a:rPr>
              <a:t>Alex Ugwu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44003" y="4764024"/>
            <a:ext cx="2700451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0" i="1">
                <a:solidFill>
                  <a:srgbClr val="373737"/>
                </a:solidFill>
              </a:rPr>
              <a:t>Backend Engineer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25715" y="5020056"/>
            <a:ext cx="2737027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30" b="0" i="0">
                <a:solidFill>
                  <a:srgbClr val="2D2D2D"/>
                </a:solidFill>
              </a:rPr>
              <a:t>Backend • APIs • Database • Security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699902" y="3392424"/>
            <a:ext cx="2791891" cy="1965960"/>
          </a:xfrm>
          <a:prstGeom prst="roundRect">
            <a:avLst/>
          </a:prstGeom>
          <a:solidFill>
            <a:srgbClr val="F8FBF7"/>
          </a:solidFill>
          <a:ln w="19050">
            <a:solidFill>
              <a:srgbClr val="126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5588355" y="3438144"/>
            <a:ext cx="1014984" cy="10149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6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15787" y="3465576"/>
            <a:ext cx="960120" cy="96012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4745622" y="4489704"/>
            <a:ext cx="270045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 i="0">
                <a:solidFill>
                  <a:srgbClr val="12693D"/>
                </a:solidFill>
              </a:rPr>
              <a:t>Emmanuel Eligwu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45622" y="4764024"/>
            <a:ext cx="2700451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0" i="1">
                <a:solidFill>
                  <a:srgbClr val="373737"/>
                </a:solidFill>
              </a:rPr>
              <a:t>QA &amp; Support Engineer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27334" y="5020056"/>
            <a:ext cx="2737027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30" b="0" i="0">
                <a:solidFill>
                  <a:srgbClr val="2D2D2D"/>
                </a:solidFill>
              </a:rPr>
              <a:t>Testing • Quality assurance • User support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601521" y="3392424"/>
            <a:ext cx="2791891" cy="1965960"/>
          </a:xfrm>
          <a:prstGeom prst="roundRect">
            <a:avLst/>
          </a:prstGeom>
          <a:solidFill>
            <a:srgbClr val="F8FBF7"/>
          </a:solidFill>
          <a:ln w="19050">
            <a:solidFill>
              <a:srgbClr val="126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8489974" y="3438144"/>
            <a:ext cx="1014984" cy="10149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6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17406" y="3465576"/>
            <a:ext cx="960120" cy="960120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7647241" y="4489704"/>
            <a:ext cx="2700451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 i="0">
                <a:solidFill>
                  <a:srgbClr val="12693D"/>
                </a:solidFill>
              </a:rPr>
              <a:t>Agene Okoh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47241" y="4764024"/>
            <a:ext cx="2700451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50" b="0" i="1">
                <a:solidFill>
                  <a:srgbClr val="373737"/>
                </a:solidFill>
              </a:rPr>
              <a:t>Team Member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0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377e2eff-7647-4733-a872-5ddbd2549d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292608"/>
            <a:ext cx="2331720" cy="145125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862580" y="863600"/>
            <a:ext cx="6436360" cy="604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0" y="914400"/>
            <a:ext cx="6309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1536192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D1E9D4"/>
                </a:solidFill>
                <a:latin typeface="Aptos"/>
              </a:rPr>
              <a:t>Experience Agro-Shield in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2240280"/>
            <a:ext cx="8458200" cy="960120"/>
          </a:xfrm>
          <a:prstGeom prst="roundRect">
            <a:avLst/>
          </a:prstGeom>
          <a:solidFill>
            <a:srgbClr val="1B6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2057400" y="2532888"/>
            <a:ext cx="8092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https://agro-shield.onrender.com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947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1E9D4"/>
                </a:solidFill>
                <a:latin typeface="Aptos"/>
              </a:rPr>
              <a:t>Suggested demo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224528"/>
            <a:ext cx="4114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DDEFDE"/>
                </a:solidFill>
                <a:latin typeface="Aptos"/>
              </a:defRPr>
            </a:pPr>
            <a:r>
              <a:t>• Visit Agro-Shield</a:t>
            </a:r>
          </a:p>
          <a:p>
            <a:pPr>
              <a:spcAft>
                <a:spcPts val="600"/>
              </a:spcAft>
              <a:defRPr sz="1300">
                <a:solidFill>
                  <a:srgbClr val="DDEFDE"/>
                </a:solidFill>
                <a:latin typeface="Aptos"/>
              </a:defRPr>
            </a:pPr>
            <a:r>
              <a:t>• Register / sign in</a:t>
            </a:r>
          </a:p>
          <a:p>
            <a:pPr>
              <a:spcAft>
                <a:spcPts val="600"/>
              </a:spcAft>
              <a:defRPr sz="1300">
                <a:solidFill>
                  <a:srgbClr val="DDEFDE"/>
                </a:solidFill>
                <a:latin typeface="Aptos"/>
              </a:defRPr>
            </a:pPr>
            <a:r>
              <a:t>• Explore the marketplace</a:t>
            </a:r>
          </a:p>
          <a:p>
            <a:pPr>
              <a:spcAft>
                <a:spcPts val="600"/>
              </a:spcAft>
              <a:defRPr sz="1300">
                <a:solidFill>
                  <a:srgbClr val="DDEFDE"/>
                </a:solidFill>
                <a:latin typeface="Aptos"/>
              </a:defRPr>
            </a:pPr>
            <a:r>
              <a:t>• Try the AI farming assistant</a:t>
            </a:r>
          </a:p>
          <a:p>
            <a:pPr>
              <a:spcAft>
                <a:spcPts val="600"/>
              </a:spcAft>
              <a:defRPr sz="1300">
                <a:solidFill>
                  <a:srgbClr val="DDEFDE"/>
                </a:solidFill>
                <a:latin typeface="Aptos"/>
              </a:defRPr>
            </a:pPr>
            <a:r>
              <a:t>• Explore the dashboard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977639"/>
            <a:ext cx="4160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PROTECT EVERY HARVEST.
EMPOWER EVERY FARMER.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5925312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CAE6CA"/>
                </a:solidFill>
                <a:latin typeface="Aptos"/>
              </a:rPr>
              <a:t>Thank you • Team Agro-Shield</a:t>
            </a:r>
          </a:p>
        </p:txBody>
      </p:sp>
      <p:pic>
        <p:nvPicPr>
          <p:cNvPr id="12" name="Picture 11" descr="AgroShield_logo_FINAL_br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11480"/>
            <a:ext cx="2240280" cy="149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